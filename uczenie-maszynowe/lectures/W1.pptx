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18"/>
  </p:notesMasterIdLst>
  <p:sldIdLst>
    <p:sldId id="256" r:id="rId5"/>
    <p:sldId id="308" r:id="rId6"/>
    <p:sldId id="299" r:id="rId7"/>
    <p:sldId id="295" r:id="rId8"/>
    <p:sldId id="300" r:id="rId9"/>
    <p:sldId id="293" r:id="rId10"/>
    <p:sldId id="294" r:id="rId11"/>
    <p:sldId id="301" r:id="rId12"/>
    <p:sldId id="296" r:id="rId13"/>
    <p:sldId id="297" r:id="rId14"/>
    <p:sldId id="302" r:id="rId15"/>
    <p:sldId id="298" r:id="rId16"/>
    <p:sldId id="305" r:id="rId1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2"/>
    <p:restoredTop sz="94726"/>
  </p:normalViewPr>
  <p:slideViewPr>
    <p:cSldViewPr snapToGrid="0">
      <p:cViewPr varScale="1">
        <p:scale>
          <a:sx n="120" d="100"/>
          <a:sy n="12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C6FED-5394-D245-9443-08D1CF059B17}" type="datetimeFigureOut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2AC43-3E6A-AF46-8D50-C5C485156F1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30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2AC43-3E6A-AF46-8D50-C5C485156F14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647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2AC43-3E6A-AF46-8D50-C5C485156F14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8801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2AC43-3E6A-AF46-8D50-C5C485156F14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7536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2AC43-3E6A-AF46-8D50-C5C485156F14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024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4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0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4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9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96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6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1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4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9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8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1C8AB3A-6737-9C04-A9C6-8D245325D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321" y="45456"/>
            <a:ext cx="5603822" cy="2161716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pl-PL" sz="5200" dirty="0"/>
              <a:t>Uczenie maszynowe w </a:t>
            </a:r>
            <a:r>
              <a:rPr lang="pl-PL" sz="5200" dirty="0" err="1"/>
              <a:t>Pythonie</a:t>
            </a:r>
            <a:r>
              <a:rPr lang="pl-PL" sz="5200" dirty="0"/>
              <a:t> od podstaw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30B28FA-9F99-CEA5-4753-42BB2A886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0" y="2389721"/>
            <a:ext cx="5699849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pl-PL" sz="2000" dirty="0"/>
              <a:t>Prof. UAM dr hab. Tomasz Górecki</a:t>
            </a:r>
          </a:p>
          <a:p>
            <a:pPr algn="l"/>
            <a:r>
              <a:rPr lang="pl-PL" sz="1200" dirty="0"/>
              <a:t>Zakład Statystyki Matematycznej i Analizy Danych</a:t>
            </a:r>
          </a:p>
          <a:p>
            <a:pPr algn="l"/>
            <a:r>
              <a:rPr lang="pl-PL" sz="1200" dirty="0"/>
              <a:t>Wydział Matematyki i Informatyki</a:t>
            </a:r>
          </a:p>
        </p:txBody>
      </p:sp>
      <p:pic>
        <p:nvPicPr>
          <p:cNvPr id="4" name="Picture 3" descr="Próbka pipetowana do szalki Petriego">
            <a:extLst>
              <a:ext uri="{FF2B5EF4-FFF2-40B4-BE49-F238E27FC236}">
                <a16:creationId xmlns:a16="http://schemas.microsoft.com/office/drawing/2014/main" id="{2DE72E68-C884-17A1-077D-614688166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42" r="-2" b="-2"/>
          <a:stretch/>
        </p:blipFill>
        <p:spPr>
          <a:xfrm>
            <a:off x="8708" y="10"/>
            <a:ext cx="6005512" cy="685799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804E7FB-E1A3-3C2A-270B-B0393A896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067" y="4883148"/>
            <a:ext cx="3840633" cy="100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8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C4E1CE-3DAC-339A-DED0-27949BED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Kim </a:t>
            </a:r>
            <a:r>
              <a:rPr lang="en-US" kern="1200" dirty="0" err="1">
                <a:latin typeface="+mj-lt"/>
                <a:ea typeface="+mj-ea"/>
                <a:cs typeface="+mj-cs"/>
              </a:rPr>
              <a:t>jesteśmy</a:t>
            </a:r>
            <a:r>
              <a:rPr lang="en-US" kern="1200" dirty="0">
                <a:latin typeface="+mj-lt"/>
                <a:ea typeface="+mj-ea"/>
                <a:cs typeface="+mj-cs"/>
              </a:rPr>
              <a:t> – </a:t>
            </a:r>
            <a:r>
              <a:rPr lang="en-US" kern="1200" dirty="0" err="1">
                <a:latin typeface="+mj-lt"/>
                <a:ea typeface="+mj-ea"/>
                <a:cs typeface="+mj-cs"/>
              </a:rPr>
              <a:t>przedstawienie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Obraz 6" descr="Obraz zawierający Ludzka twarz, osoba, człowiek, Podbródek&#10;&#10;Opis wygenerowany automatycznie">
            <a:extLst>
              <a:ext uri="{FF2B5EF4-FFF2-40B4-BE49-F238E27FC236}">
                <a16:creationId xmlns:a16="http://schemas.microsoft.com/office/drawing/2014/main" id="{3F553081-32C6-1CC4-6F91-A9AF7A5A83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90" r="11592" b="2"/>
          <a:stretch/>
        </p:blipFill>
        <p:spPr>
          <a:xfrm>
            <a:off x="5247408" y="919595"/>
            <a:ext cx="6107979" cy="5013614"/>
          </a:xfrm>
          <a:prstGeom prst="rect">
            <a:avLst/>
          </a:prstGeom>
          <a:noFill/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4DF87A8-5924-60F5-28EC-2A138E53C14A}"/>
              </a:ext>
            </a:extLst>
          </p:cNvPr>
          <p:cNvSpPr txBox="1"/>
          <p:nvPr/>
        </p:nvSpPr>
        <p:spPr>
          <a:xfrm>
            <a:off x="836613" y="2086252"/>
            <a:ext cx="4075112" cy="28683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Prof. UAM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dr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hab. Tomasz Górecki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Prodziekan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ds.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grantów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współpracy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z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gospodarką</a:t>
            </a:r>
            <a:endParaRPr lang="en-US" sz="1600" b="1" kern="1200" cap="all" spc="300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Zakład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Statystyki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Matematycznej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Analizy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Danych</a:t>
            </a:r>
            <a:endParaRPr lang="en-US" sz="1600" b="1" kern="1200" cap="all" spc="300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Wydział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Matematyki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600" b="1" kern="1200" cap="all" spc="3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cap="all" spc="300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Informatyki</a:t>
            </a:r>
            <a:endParaRPr lang="en-US" sz="1600" b="1" kern="1200" cap="all" spc="300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A22B392-56DF-D72D-1BF8-C345E873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75C51DF-4781-A6F4-0B8D-7350D5134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24" y="5071716"/>
            <a:ext cx="934004" cy="116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6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F3B19E-14B8-6C03-B196-75AB495A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/>
              <a:t>Podstawowy </a:t>
            </a:r>
            <a:r>
              <a:rPr lang="pl-PL" dirty="0" err="1"/>
              <a:t>stack</a:t>
            </a:r>
            <a:r>
              <a:rPr lang="pl-PL" dirty="0"/>
              <a:t> technologiczny</a:t>
            </a:r>
          </a:p>
        </p:txBody>
      </p:sp>
      <p:sp>
        <p:nvSpPr>
          <p:cNvPr id="19486" name="Date Placeholder 3">
            <a:extLst>
              <a:ext uri="{FF2B5EF4-FFF2-40B4-BE49-F238E27FC236}">
                <a16:creationId xmlns:a16="http://schemas.microsoft.com/office/drawing/2014/main" id="{75CECA49-5CC1-76EC-26F3-8A0A9BF0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19488" name="Slide Number Placeholder 5">
            <a:extLst>
              <a:ext uri="{FF2B5EF4-FFF2-40B4-BE49-F238E27FC236}">
                <a16:creationId xmlns:a16="http://schemas.microsoft.com/office/drawing/2014/main" id="{7B304681-9DFC-0ACC-B293-966DB33B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EAFF1628-6464-774F-48A5-E1B9647C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602" y="3953553"/>
            <a:ext cx="3947333" cy="159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4BA5147D-1296-DED1-6D78-FDD13A3C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34" y="2157984"/>
            <a:ext cx="3947333" cy="177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6" name="Picture 10">
            <a:extLst>
              <a:ext uri="{FF2B5EF4-FFF2-40B4-BE49-F238E27FC236}">
                <a16:creationId xmlns:a16="http://schemas.microsoft.com/office/drawing/2014/main" id="{A6B2EA44-243E-5484-64FA-2BE1FE7A6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679" y="4735886"/>
            <a:ext cx="3871941" cy="110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8" name="Picture 12" descr="Matplotlib logo — Matplotlib 3.8.3 documentation">
            <a:extLst>
              <a:ext uri="{FF2B5EF4-FFF2-40B4-BE49-F238E27FC236}">
                <a16:creationId xmlns:a16="http://schemas.microsoft.com/office/drawing/2014/main" id="{C79E39C2-4530-C889-2763-6A17BBF84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306" y="3275590"/>
            <a:ext cx="4672455" cy="93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FAD2263F-C42F-CDDC-3D9A-0B52AA820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165" y="136525"/>
            <a:ext cx="2784764" cy="278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1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30A35-3F55-4BA0-5C7B-C1D47CCB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0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 err="1"/>
              <a:t>NumPy</a:t>
            </a:r>
            <a:endParaRPr lang="pl-PL" dirty="0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EA070E-1B53-B106-DAC4-6654FE5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AD0179-6AF0-AFC2-51BA-6567029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9EA3423B-9940-32C9-2D04-D4D14816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-53093"/>
            <a:ext cx="9741406" cy="6883773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461D839E-ADBB-D61A-8ECB-A2C65C866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83062">
            <a:off x="-608534" y="3118817"/>
            <a:ext cx="3947333" cy="177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60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33D8F6-D64C-A2FE-D4F8-0AC7E71D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/>
          <a:p>
            <a:r>
              <a:rPr lang="pl-PL" dirty="0"/>
              <a:t>Ćwiczenie 1: </a:t>
            </a:r>
            <a:r>
              <a:rPr lang="pl-PL" dirty="0" err="1"/>
              <a:t>NumPy</a:t>
            </a:r>
            <a:r>
              <a:rPr lang="pl-PL" dirty="0"/>
              <a:t> (15 minut)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03E937-F3E3-4F6D-BFB8-CE7AB20E7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7824" y="1965325"/>
            <a:ext cx="5332761" cy="2927350"/>
          </a:xfrm>
        </p:spPr>
        <p:txBody>
          <a:bodyPr anchor="b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Wygeneruj symulowane dane sprzedaży dla dwóch produktów (A i B) przez 12 miesięcy. Dane powinny zawierać losowe wartości sprzedaży i ogólny trend wzrostowy.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Oblicz podstawowe statystyki (średnia, mediana, odchylenie standardowe) dla całorocznej sprzedaży każdego produktu.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F8EB46-9B6B-A7F8-9031-4587D4E8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F94492-B01C-7AEC-0C81-05BC372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8BC9B70-A775-F693-A212-6D0F08FE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8" y="501650"/>
            <a:ext cx="2784764" cy="2784764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D499C93-EC7D-ABD3-CDAC-62C45E9A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406" y="3573607"/>
            <a:ext cx="3947333" cy="177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33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30A35-3F55-4BA0-5C7B-C1D47CCB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 err="1"/>
              <a:t>pandas</a:t>
            </a:r>
            <a:r>
              <a:rPr lang="pl-PL" dirty="0"/>
              <a:t> (1)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970A2CCB-66C9-B3CF-5B8D-B44F6C2C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330" y="0"/>
            <a:ext cx="8897769" cy="6877138"/>
          </a:xfrm>
          <a:prstGeom prst="rect">
            <a:avLst/>
          </a:prstGeom>
          <a:noFill/>
        </p:spPr>
      </p:pic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EA070E-1B53-B106-DAC4-6654FE5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AD0179-6AF0-AFC2-51BA-6567029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5806EAB-A9F5-7109-A4D7-FFA57879A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88269">
            <a:off x="-481126" y="3652098"/>
            <a:ext cx="3947333" cy="159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966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30A35-3F55-4BA0-5C7B-C1D47CCB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0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 err="1"/>
              <a:t>pandas</a:t>
            </a:r>
            <a:r>
              <a:rPr lang="pl-PL" dirty="0"/>
              <a:t> (2)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EA070E-1B53-B106-DAC4-6654FE5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AD0179-6AF0-AFC2-51BA-6567029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7C8F9DF-F0B5-50AB-641C-65DCC098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170" y="0"/>
            <a:ext cx="8798822" cy="6799089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74C7790-9794-22BD-380B-B6F59744D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88269">
            <a:off x="-481126" y="3652098"/>
            <a:ext cx="3947333" cy="159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860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33D8F6-D64C-A2FE-D4F8-0AC7E71D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/>
          <a:p>
            <a:r>
              <a:rPr lang="pl-PL" dirty="0"/>
              <a:t>Ćwiczenie 2: </a:t>
            </a:r>
            <a:r>
              <a:rPr lang="pl-PL" dirty="0" err="1"/>
              <a:t>pandas</a:t>
            </a:r>
            <a:r>
              <a:rPr lang="pl-PL" dirty="0"/>
              <a:t> (15 minut)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03E937-F3E3-4F6D-BFB8-CE7AB20E7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7824" y="1965324"/>
            <a:ext cx="5332761" cy="3631911"/>
          </a:xfrm>
        </p:spPr>
        <p:txBody>
          <a:bodyPr anchor="b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Przenieś wygenerowane dane do </a:t>
            </a:r>
            <a:r>
              <a:rPr lang="pl-PL" sz="2000" dirty="0" err="1"/>
              <a:t>DataFrame</a:t>
            </a:r>
            <a:r>
              <a:rPr lang="pl-PL" sz="2000" dirty="0"/>
              <a:t>, gdzie wiersze reprezentują miesiące, a kolumny – sprzedaż produktów A i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Dodaj do danych symulacyjne „braki” w sprzedaży (np. czerwiec w produkcie B), a następnie zastosuj odpowiednie metody czyszczenia danych (wypełnianie brakujących wartości średnimi).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F8EB46-9B6B-A7F8-9031-4587D4E8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F94492-B01C-7AEC-0C81-05BC372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8BC9B70-A775-F693-A212-6D0F08FE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8" y="501650"/>
            <a:ext cx="2784764" cy="2784764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9827A5C-2C1C-B70E-21AC-F6A6826A4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333" y="3773444"/>
            <a:ext cx="3947333" cy="159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440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30A35-3F55-4BA0-5C7B-C1D47CCB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44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 err="1"/>
              <a:t>matplotlib</a:t>
            </a:r>
            <a:r>
              <a:rPr lang="pl-PL" dirty="0"/>
              <a:t> (1)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EA070E-1B53-B106-DAC4-6654FE5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AD0179-6AF0-AFC2-51BA-6567029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6284FC6-5358-EE97-2AFD-7724B74A5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-44119"/>
            <a:ext cx="9741406" cy="6883773"/>
          </a:xfrm>
          <a:prstGeom prst="rect">
            <a:avLst/>
          </a:prstGeom>
        </p:spPr>
      </p:pic>
      <p:pic>
        <p:nvPicPr>
          <p:cNvPr id="5" name="Picture 12" descr="Matplotlib logo — Matplotlib 3.8.3 documentation">
            <a:extLst>
              <a:ext uri="{FF2B5EF4-FFF2-40B4-BE49-F238E27FC236}">
                <a16:creationId xmlns:a16="http://schemas.microsoft.com/office/drawing/2014/main" id="{AE93472E-6339-E1DA-0E73-43BDF151A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81573">
            <a:off x="-902290" y="3730519"/>
            <a:ext cx="4672455" cy="93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49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30A35-3F55-4BA0-5C7B-C1D47CCB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44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 err="1"/>
              <a:t>matplotlib</a:t>
            </a:r>
            <a:r>
              <a:rPr lang="pl-PL" dirty="0"/>
              <a:t> (2)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EA070E-1B53-B106-DAC4-6654FE5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 dirty="0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AD0179-6AF0-AFC2-51BA-6567029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B202594-7A7E-BD4F-1A9C-C15FDDEB9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332" y="0"/>
            <a:ext cx="9614967" cy="6794425"/>
          </a:xfrm>
          <a:prstGeom prst="rect">
            <a:avLst/>
          </a:prstGeom>
        </p:spPr>
      </p:pic>
      <p:pic>
        <p:nvPicPr>
          <p:cNvPr id="6" name="Picture 12" descr="Matplotlib logo — Matplotlib 3.8.3 documentation">
            <a:extLst>
              <a:ext uri="{FF2B5EF4-FFF2-40B4-BE49-F238E27FC236}">
                <a16:creationId xmlns:a16="http://schemas.microsoft.com/office/drawing/2014/main" id="{2CE4B946-E3B3-0E76-2B36-B0C5A1B7C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81573">
            <a:off x="-902290" y="3730519"/>
            <a:ext cx="4672455" cy="93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97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33D8F6-D64C-A2FE-D4F8-0AC7E71D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/>
          <a:p>
            <a:r>
              <a:rPr lang="pl-PL" dirty="0"/>
              <a:t>Ćwiczenie 3: </a:t>
            </a:r>
            <a:r>
              <a:rPr lang="pl-PL" dirty="0" err="1"/>
              <a:t>matplotlib</a:t>
            </a:r>
            <a:r>
              <a:rPr lang="pl-PL" dirty="0"/>
              <a:t> (15 minut)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03E937-F3E3-4F6D-BFB8-CE7AB20E7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7824" y="2470362"/>
            <a:ext cx="5332761" cy="2364873"/>
          </a:xfrm>
        </p:spPr>
        <p:txBody>
          <a:bodyPr anchor="b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Stwórz wykresy liniowe przedstawiające trend sprzedaży produktów A i B przez 12 miesięcy. Dodaj legendę, tytuł wykresu oraz etykiety osi.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Stwórz wykres słupkowy pokazujący średnie dla produktów.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F8EB46-9B6B-A7F8-9031-4587D4E8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F94492-B01C-7AEC-0C81-05BC372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8BC9B70-A775-F693-A212-6D0F08FE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8" y="501650"/>
            <a:ext cx="2784764" cy="2784764"/>
          </a:xfrm>
          <a:prstGeom prst="rect">
            <a:avLst/>
          </a:prstGeom>
        </p:spPr>
      </p:pic>
      <p:pic>
        <p:nvPicPr>
          <p:cNvPr id="5" name="Picture 12" descr="Matplotlib logo — Matplotlib 3.8.3 documentation">
            <a:extLst>
              <a:ext uri="{FF2B5EF4-FFF2-40B4-BE49-F238E27FC236}">
                <a16:creationId xmlns:a16="http://schemas.microsoft.com/office/drawing/2014/main" id="{345125AA-CDB1-0B22-1955-33BA6A9D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585" y="3781279"/>
            <a:ext cx="4672455" cy="93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552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30A35-3F55-4BA0-5C7B-C1D47CCB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4445"/>
            <a:ext cx="10449784" cy="1265928"/>
          </a:xfrm>
        </p:spPr>
        <p:txBody>
          <a:bodyPr anchor="b">
            <a:normAutofit/>
          </a:bodyPr>
          <a:lstStyle/>
          <a:p>
            <a:r>
              <a:rPr lang="pl-PL" dirty="0"/>
              <a:t> </a:t>
            </a:r>
            <a:r>
              <a:rPr lang="pl-PL" dirty="0" err="1"/>
              <a:t>Seaborn</a:t>
            </a:r>
            <a:endParaRPr lang="pl-PL" dirty="0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EA070E-1B53-B106-DAC4-6654FE5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 dirty="0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AD0179-6AF0-AFC2-51BA-6567029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B135C874-87CB-BAEC-0FB8-56A864663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619" y="0"/>
            <a:ext cx="9687783" cy="6845880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A190CBBE-3C99-3450-00B1-02950DB55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04412">
            <a:off x="-605665" y="3657829"/>
            <a:ext cx="3389895" cy="97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657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33D8F6-D64C-A2FE-D4F8-0AC7E71D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/>
          <a:p>
            <a:r>
              <a:rPr lang="pl-PL" dirty="0"/>
              <a:t>Ćwiczenie 4: </a:t>
            </a:r>
            <a:r>
              <a:rPr lang="pl-PL" dirty="0" err="1"/>
              <a:t>Seaborn</a:t>
            </a:r>
            <a:r>
              <a:rPr lang="pl-PL" dirty="0"/>
              <a:t> (15 minut)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03E937-F3E3-4F6D-BFB8-CE7AB20E7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7824" y="2459837"/>
            <a:ext cx="5332761" cy="2532495"/>
          </a:xfrm>
        </p:spPr>
        <p:txBody>
          <a:bodyPr anchor="b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Stwórz wykresy gęstości sprzedaży dla obu produktów, podkreślając różnice w rozkładach.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Stwórz mapę ciepła sprzedaży produktów A i B, gdzie każdy kwadrat reprezentuje miesiąc, a jego kolor intensywność sprzedaży.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F8EB46-9B6B-A7F8-9031-4587D4E8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1/24/2026</a:t>
            </a:fld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F94492-B01C-7AEC-0C81-05BC372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8BC9B70-A775-F693-A212-6D0F08FE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8" y="501650"/>
            <a:ext cx="2784764" cy="2784764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800CC570-2668-6D1B-3E22-70E205CE9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6" y="3726085"/>
            <a:ext cx="3871941" cy="110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909315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3E2"/>
      </a:lt2>
      <a:accent1>
        <a:srgbClr val="56ABC4"/>
      </a:accent1>
      <a:accent2>
        <a:srgbClr val="6A8ECF"/>
      </a:accent2>
      <a:accent3>
        <a:srgbClr val="8985D8"/>
      </a:accent3>
      <a:accent4>
        <a:srgbClr val="9A6ACF"/>
      </a:accent4>
      <a:accent5>
        <a:srgbClr val="CF85D8"/>
      </a:accent5>
      <a:accent6>
        <a:srgbClr val="CF6AB0"/>
      </a:accent6>
      <a:hlink>
        <a:srgbClr val="AC7464"/>
      </a:hlink>
      <a:folHlink>
        <a:srgbClr val="7F7F7F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4F6BECE52B2E40B424D250808E2C5E" ma:contentTypeVersion="10" ma:contentTypeDescription="Utwórz nowy dokument." ma:contentTypeScope="" ma:versionID="8492c975528db1ed86a87b9bdd9f2f22">
  <xsd:schema xmlns:xsd="http://www.w3.org/2001/XMLSchema" xmlns:xs="http://www.w3.org/2001/XMLSchema" xmlns:p="http://schemas.microsoft.com/office/2006/metadata/properties" xmlns:ns2="598f797b-559c-4ccf-abf3-098aecce22ca" xmlns:ns3="b1938cc0-1e1a-4456-8c3a-c1a8d151a74b" targetNamespace="http://schemas.microsoft.com/office/2006/metadata/properties" ma:root="true" ma:fieldsID="15a61b184ae7c150b97c39ae00690e73" ns2:_="" ns3:_="">
    <xsd:import namespace="598f797b-559c-4ccf-abf3-098aecce22ca"/>
    <xsd:import namespace="b1938cc0-1e1a-4456-8c3a-c1a8d151a7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8f797b-559c-4ccf-abf3-098aecce22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19df4c6f-8961-41b0-b5dd-85bee8602c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38cc0-1e1a-4456-8c3a-c1a8d151a74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2f6e90-3e1e-45b5-8eab-01c1a3423929}" ma:internalName="TaxCatchAll" ma:showField="CatchAllData" ma:web="b1938cc0-1e1a-4456-8c3a-c1a8d151a7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1938cc0-1e1a-4456-8c3a-c1a8d151a74b" xsi:nil="true"/>
    <lcf76f155ced4ddcb4097134ff3c332f xmlns="598f797b-559c-4ccf-abf3-098aecce22c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3ADB59-B2A9-4176-925F-ED177A0A2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1EF0F3-8A95-4886-9818-3A6AAB55E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8f797b-559c-4ccf-abf3-098aecce22ca"/>
    <ds:schemaRef ds:uri="b1938cc0-1e1a-4456-8c3a-c1a8d151a7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2342C6-C70C-449B-AB26-A0C54A7122B3}">
  <ds:schemaRefs>
    <ds:schemaRef ds:uri="http://schemas.microsoft.com/office/2006/metadata/properties"/>
    <ds:schemaRef ds:uri="http://schemas.microsoft.com/office/infopath/2007/PartnerControls"/>
    <ds:schemaRef ds:uri="b1938cc0-1e1a-4456-8c3a-c1a8d151a74b"/>
    <ds:schemaRef ds:uri="598f797b-559c-4ccf-abf3-098aecce22c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17170</TotalTime>
  <Words>294</Words>
  <Application>Microsoft Office PowerPoint</Application>
  <PresentationFormat>Panoramiczny</PresentationFormat>
  <Paragraphs>55</Paragraphs>
  <Slides>13</Slides>
  <Notes>4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4" baseType="lpstr">
      <vt:lpstr>BohoVogueVTI</vt:lpstr>
      <vt:lpstr>Uczenie maszynowe w Pythonie od podstaw</vt:lpstr>
      <vt:lpstr>Kim jesteśmy – przedstawienie</vt:lpstr>
      <vt:lpstr>Podstawowy stack technologiczny</vt:lpstr>
      <vt:lpstr>NumPy</vt:lpstr>
      <vt:lpstr>Ćwiczenie 1: NumPy (15 minut)</vt:lpstr>
      <vt:lpstr>pandas (1)</vt:lpstr>
      <vt:lpstr>pandas (2)</vt:lpstr>
      <vt:lpstr>Ćwiczenie 2: pandas (15 minut)</vt:lpstr>
      <vt:lpstr>matplotlib (1)</vt:lpstr>
      <vt:lpstr>matplotlib (2)</vt:lpstr>
      <vt:lpstr>Ćwiczenie 3: matplotlib (15 minut)</vt:lpstr>
      <vt:lpstr> Seaborn</vt:lpstr>
      <vt:lpstr>Ćwiczenie 4: Seaborn (15 minut)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Testy A/B</dc:title>
  <dc:creator>Tomasz Górecki</dc:creator>
  <cp:lastModifiedBy>Tomasz Górecki</cp:lastModifiedBy>
  <cp:revision>72</cp:revision>
  <dcterms:created xsi:type="dcterms:W3CDTF">2024-02-15T10:53:10Z</dcterms:created>
  <dcterms:modified xsi:type="dcterms:W3CDTF">2026-01-24T10:59:46Z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0x010100EC4F6BECE52B2E40B424D250808E2C5E</vt:lpwstr>
  </property>
  <property fmtid="{D5CDD505-2E9C-101B-9397-08002B2CF9AE}" pid="3" name="MediaServiceImageTags">
    <vt:lpwstr/>
  </property>
</Properties>
</file>